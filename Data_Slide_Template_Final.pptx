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8"/>
  </p:notesMasterIdLst>
  <p:handoutMasterIdLst>
    <p:handoutMasterId r:id="rId9"/>
  </p:handoutMasterIdLst>
  <p:sldIdLst>
    <p:sldId id="340" r:id="rId5"/>
    <p:sldId id="338" r:id="rId6"/>
    <p:sldId id="339" r:id="rId7"/>
  </p:sldIdLst>
  <p:sldSz cx="12192000" cy="6858000"/>
  <p:notesSz cx="6950075" cy="9236075"/>
  <p:custShowLst>
    <p:custShow name="Format Guide Workshop" id="0">
      <p:sldLst/>
    </p:custShow>
  </p:custShowLst>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95" d="100"/>
          <a:sy n="95" d="100"/>
        </p:scale>
        <p:origin x="115"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6/6/2026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6/6/2026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10" Type="http://schemas.openxmlformats.org/officeDocument/2006/relationships/image" Target="../media/image13.png"/><Relationship Id="rId4" Type="http://schemas.openxmlformats.org/officeDocument/2006/relationships/slideLayout" Target="../slideLayouts/slideLayout2.xml"/><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935A38A-67F9-DE97-1DB9-A4E4E4F0AADA}"/>
              </a:ext>
            </a:extLst>
          </p:cNvPr>
          <p:cNvSpPr>
            <a:spLocks noGrp="1"/>
          </p:cNvSpPr>
          <p:nvPr>
            <p:ph type="pic" sz="quarter" idx="13"/>
          </p:nvPr>
        </p:nvSpPr>
        <p:spPr/>
      </p:sp>
      <p:sp>
        <p:nvSpPr>
          <p:cNvPr id="3" name="Text Placeholder 2">
            <a:extLst>
              <a:ext uri="{FF2B5EF4-FFF2-40B4-BE49-F238E27FC236}">
                <a16:creationId xmlns:a16="http://schemas.microsoft.com/office/drawing/2014/main" id="{B4D623CC-39FF-ED78-47AE-18CDDCB4A7D0}"/>
              </a:ext>
            </a:extLst>
          </p:cNvPr>
          <p:cNvSpPr>
            <a:spLocks noGrp="1"/>
          </p:cNvSpPr>
          <p:nvPr>
            <p:ph type="body" sz="quarter" idx="12"/>
          </p:nvPr>
        </p:nvSpPr>
        <p:spPr/>
        <p:txBody>
          <a:bodyPr/>
          <a:lstStyle/>
          <a:p>
            <a:r>
              <a:rPr lang="en-IN" dirty="0"/>
              <a:t>By Anushka Gupta</a:t>
            </a:r>
          </a:p>
        </p:txBody>
      </p:sp>
      <p:sp>
        <p:nvSpPr>
          <p:cNvPr id="4" name="Subtitle 3">
            <a:extLst>
              <a:ext uri="{FF2B5EF4-FFF2-40B4-BE49-F238E27FC236}">
                <a16:creationId xmlns:a16="http://schemas.microsoft.com/office/drawing/2014/main" id="{A4FA65A6-BBD7-8FC8-1CF6-B7169430BD3A}"/>
              </a:ext>
            </a:extLst>
          </p:cNvPr>
          <p:cNvSpPr>
            <a:spLocks noGrp="1"/>
          </p:cNvSpPr>
          <p:nvPr>
            <p:ph type="subTitle" idx="1"/>
          </p:nvPr>
        </p:nvSpPr>
        <p:spPr/>
        <p:txBody>
          <a:bodyPr/>
          <a:lstStyle/>
          <a:p>
            <a:r>
              <a:rPr lang="en-IN" dirty="0"/>
              <a:t>Campaign Performance Analysis</a:t>
            </a:r>
          </a:p>
        </p:txBody>
      </p:sp>
      <p:sp>
        <p:nvSpPr>
          <p:cNvPr id="5" name="Title 4">
            <a:extLst>
              <a:ext uri="{FF2B5EF4-FFF2-40B4-BE49-F238E27FC236}">
                <a16:creationId xmlns:a16="http://schemas.microsoft.com/office/drawing/2014/main" id="{CABDA134-A1DF-8D48-8730-4B1578A399BD}"/>
              </a:ext>
            </a:extLst>
          </p:cNvPr>
          <p:cNvSpPr>
            <a:spLocks noGrp="1"/>
          </p:cNvSpPr>
          <p:nvPr>
            <p:ph type="ctrTitle"/>
          </p:nvPr>
        </p:nvSpPr>
        <p:spPr/>
        <p:txBody>
          <a:bodyPr/>
          <a:lstStyle/>
          <a:p>
            <a:r>
              <a:rPr lang="en-IN" dirty="0"/>
              <a:t>Marketing Campaign Performance Analysis</a:t>
            </a:r>
          </a:p>
        </p:txBody>
      </p:sp>
    </p:spTree>
    <p:extLst>
      <p:ext uri="{BB962C8B-B14F-4D97-AF65-F5344CB8AC3E}">
        <p14:creationId xmlns:p14="http://schemas.microsoft.com/office/powerpoint/2010/main" val="36535652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pPr algn="ctr"/>
            <a:r>
              <a:rPr lang="en-IN" sz="2800" dirty="0"/>
              <a:t>Marketing Campaign Performance Analysis</a:t>
            </a:r>
            <a:endParaRPr lang="en-US" sz="2800" dirty="0"/>
          </a:p>
        </p:txBody>
      </p:sp>
      <p:sp>
        <p:nvSpPr>
          <p:cNvPr id="8" name="Rectangle 7">
            <a:extLst>
              <a:ext uri="{FF2B5EF4-FFF2-40B4-BE49-F238E27FC236}">
                <a16:creationId xmlns:a16="http://schemas.microsoft.com/office/drawing/2014/main" id="{942B0D30-68D6-1748-728E-7FA73A5976EC}"/>
              </a:ext>
            </a:extLst>
          </p:cNvPr>
          <p:cNvSpPr/>
          <p:nvPr/>
        </p:nvSpPr>
        <p:spPr>
          <a:xfrm>
            <a:off x="1287406" y="1248314"/>
            <a:ext cx="2328814" cy="30777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rgbClr val="21BF61"/>
                </a:solidFill>
              </a:rPr>
              <a:t>CPA (Existing)</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4333241"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7080441" y="2124978"/>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7218441" y="1241181"/>
            <a:ext cx="2328814" cy="30777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solidFill>
                  <a:srgbClr val="21BF61"/>
                </a:solidFill>
              </a:rPr>
              <a:t>CPA</a:t>
            </a:r>
            <a:r>
              <a:rPr lang="en-US" sz="1200" b="1" dirty="0">
                <a:solidFill>
                  <a:srgbClr val="21BF61"/>
                </a:solidFill>
              </a:rPr>
              <a:t> (</a:t>
            </a:r>
            <a:r>
              <a:rPr lang="en-US" sz="1400" b="1" dirty="0">
                <a:solidFill>
                  <a:srgbClr val="21BF61"/>
                </a:solidFill>
              </a:rPr>
              <a:t>New</a:t>
            </a:r>
            <a:r>
              <a:rPr lang="en-US" sz="1200" b="1" dirty="0">
                <a:solidFill>
                  <a:srgbClr val="21BF61"/>
                </a:solidFill>
              </a:rPr>
              <a: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 name="Picture 8">
            <a:extLst>
              <a:ext uri="{FF2B5EF4-FFF2-40B4-BE49-F238E27FC236}">
                <a16:creationId xmlns:a16="http://schemas.microsoft.com/office/drawing/2014/main" id="{21A20198-D1E0-CE4F-7EA9-521934A0B770}"/>
              </a:ext>
            </a:extLst>
          </p:cNvPr>
          <p:cNvPicPr>
            <a:picLocks noChangeAspect="1"/>
          </p:cNvPicPr>
          <p:nvPr/>
        </p:nvPicPr>
        <p:blipFill>
          <a:blip r:embed="rId9"/>
          <a:stretch>
            <a:fillRect/>
          </a:stretch>
        </p:blipFill>
        <p:spPr>
          <a:xfrm>
            <a:off x="695959" y="1667045"/>
            <a:ext cx="5176299" cy="3438091"/>
          </a:xfrm>
          <a:prstGeom prst="rect">
            <a:avLst/>
          </a:prstGeom>
        </p:spPr>
      </p:pic>
      <p:pic>
        <p:nvPicPr>
          <p:cNvPr id="11" name="Picture 10">
            <a:extLst>
              <a:ext uri="{FF2B5EF4-FFF2-40B4-BE49-F238E27FC236}">
                <a16:creationId xmlns:a16="http://schemas.microsoft.com/office/drawing/2014/main" id="{EFF66959-7FF7-C100-7D25-B232467DA83A}"/>
              </a:ext>
            </a:extLst>
          </p:cNvPr>
          <p:cNvPicPr>
            <a:picLocks noChangeAspect="1"/>
          </p:cNvPicPr>
          <p:nvPr/>
        </p:nvPicPr>
        <p:blipFill>
          <a:blip r:embed="rId10"/>
          <a:stretch>
            <a:fillRect/>
          </a:stretch>
        </p:blipFill>
        <p:spPr>
          <a:xfrm>
            <a:off x="6557867" y="1722726"/>
            <a:ext cx="5005333" cy="3438091"/>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2E8EE-AC4D-62D8-AFED-B4EBC27055D6}"/>
              </a:ext>
            </a:extLst>
          </p:cNvPr>
          <p:cNvSpPr>
            <a:spLocks noGrp="1"/>
          </p:cNvSpPr>
          <p:nvPr>
            <p:ph type="title"/>
          </p:nvPr>
        </p:nvSpPr>
        <p:spPr/>
        <p:txBody>
          <a:bodyPr/>
          <a:lstStyle/>
          <a:p>
            <a:r>
              <a:rPr lang="en-IN" dirty="0"/>
              <a:t>Recommendations</a:t>
            </a:r>
          </a:p>
        </p:txBody>
      </p:sp>
      <p:sp>
        <p:nvSpPr>
          <p:cNvPr id="3" name="TextBox 2">
            <a:extLst>
              <a:ext uri="{FF2B5EF4-FFF2-40B4-BE49-F238E27FC236}">
                <a16:creationId xmlns:a16="http://schemas.microsoft.com/office/drawing/2014/main" id="{BEB69611-D4F2-70CF-BC0A-01ADFBEE411B}"/>
              </a:ext>
            </a:extLst>
          </p:cNvPr>
          <p:cNvSpPr txBox="1"/>
          <p:nvPr/>
        </p:nvSpPr>
        <p:spPr>
          <a:xfrm>
            <a:off x="184484" y="1093698"/>
            <a:ext cx="11285621" cy="274036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n-IN" sz="1600" dirty="0">
                <a:solidFill>
                  <a:schemeClr val="bg2">
                    <a:lumMod val="10000"/>
                  </a:schemeClr>
                </a:solidFill>
                <a:latin typeface="Aptos Display" panose="020B0004020202020204" pitchFamily="34" charset="0"/>
              </a:rPr>
              <a:t>Increase investment in Email marketing. </a:t>
            </a:r>
          </a:p>
          <a:p>
            <a:pPr marL="285750" indent="-285750">
              <a:buFont typeface="Arial" panose="020B0604020202020204" pitchFamily="34" charset="0"/>
              <a:buChar char="•"/>
            </a:pPr>
            <a:r>
              <a:rPr lang="en-IN" sz="1600" dirty="0">
                <a:solidFill>
                  <a:schemeClr val="bg2">
                    <a:lumMod val="10000"/>
                  </a:schemeClr>
                </a:solidFill>
                <a:latin typeface="Aptos Display" panose="020B0004020202020204" pitchFamily="34" charset="0"/>
              </a:rPr>
              <a:t>Scale successful elements of Campaign B. </a:t>
            </a:r>
          </a:p>
          <a:p>
            <a:pPr marL="285750" indent="-285750">
              <a:buFont typeface="Arial" panose="020B0604020202020204" pitchFamily="34" charset="0"/>
              <a:buChar char="•"/>
            </a:pPr>
            <a:r>
              <a:rPr lang="en-IN" sz="1600" dirty="0">
                <a:solidFill>
                  <a:schemeClr val="bg2">
                    <a:lumMod val="10000"/>
                  </a:schemeClr>
                </a:solidFill>
                <a:latin typeface="Aptos Display" panose="020B0004020202020204" pitchFamily="34" charset="0"/>
              </a:rPr>
              <a:t>Optimize or reconsider Web Banner strategy. </a:t>
            </a:r>
          </a:p>
          <a:p>
            <a:pPr marL="285750" indent="-285750">
              <a:buFont typeface="Arial" panose="020B0604020202020204" pitchFamily="34" charset="0"/>
              <a:buChar char="•"/>
            </a:pPr>
            <a:r>
              <a:rPr lang="en-IN" sz="1600" dirty="0">
                <a:solidFill>
                  <a:schemeClr val="bg2">
                    <a:lumMod val="10000"/>
                  </a:schemeClr>
                </a:solidFill>
                <a:latin typeface="Aptos Display" panose="020B0004020202020204" pitchFamily="34" charset="0"/>
              </a:rPr>
              <a:t>Continue monitoring conversion rate alongside sales. </a:t>
            </a:r>
          </a:p>
          <a:p>
            <a:endParaRPr lang="en-IN" sz="1600" dirty="0">
              <a:solidFill>
                <a:schemeClr val="bg2">
                  <a:lumMod val="10000"/>
                </a:schemeClr>
              </a:solidFill>
              <a:latin typeface="Aptos Display" panose="020B0004020202020204" pitchFamily="34" charset="0"/>
            </a:endParaRPr>
          </a:p>
          <a:p>
            <a:r>
              <a:rPr lang="en-IN" sz="1600" b="1" dirty="0">
                <a:solidFill>
                  <a:schemeClr val="bg2">
                    <a:lumMod val="10000"/>
                  </a:schemeClr>
                </a:solidFill>
                <a:latin typeface="Aptos Display" panose="020B0004020202020204" pitchFamily="34" charset="0"/>
              </a:rPr>
              <a:t>Final Conclusion:</a:t>
            </a:r>
            <a:br>
              <a:rPr lang="en-IN" sz="1600" dirty="0">
                <a:solidFill>
                  <a:schemeClr val="bg2">
                    <a:lumMod val="10000"/>
                  </a:schemeClr>
                </a:solidFill>
                <a:latin typeface="Aptos Display" panose="020B0004020202020204" pitchFamily="34" charset="0"/>
              </a:rPr>
            </a:br>
            <a:r>
              <a:rPr lang="en-IN" sz="1600" dirty="0">
                <a:solidFill>
                  <a:schemeClr val="bg2">
                    <a:lumMod val="10000"/>
                  </a:schemeClr>
                </a:solidFill>
                <a:latin typeface="Aptos Display" panose="020B0004020202020204" pitchFamily="34" charset="0"/>
              </a:rPr>
              <a:t>Campaign B delivered the strongest overall performance, with Email emerging as the most effective marketing channel.</a:t>
            </a:r>
          </a:p>
          <a:p>
            <a:pPr algn="ctr"/>
            <a:endParaRPr lang="en-IN" sz="1600" dirty="0" err="1">
              <a:solidFill>
                <a:schemeClr val="bg2">
                  <a:lumMod val="10000"/>
                </a:schemeClr>
              </a:solidFill>
              <a:latin typeface="Aptos Display" panose="020B0004020202020204" pitchFamily="34" charset="0"/>
            </a:endParaRPr>
          </a:p>
        </p:txBody>
      </p:sp>
    </p:spTree>
    <p:extLst>
      <p:ext uri="{BB962C8B-B14F-4D97-AF65-F5344CB8AC3E}">
        <p14:creationId xmlns:p14="http://schemas.microsoft.com/office/powerpoint/2010/main" val="21668188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131</TotalTime>
  <Words>72</Words>
  <Application>Microsoft Office PowerPoint</Application>
  <PresentationFormat>Widescreen</PresentationFormat>
  <Paragraphs>13</Paragraphs>
  <Slides>3</Slides>
  <Notes>0</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vt:i4>
      </vt:variant>
      <vt:variant>
        <vt:lpstr>Custom Shows</vt:lpstr>
      </vt:variant>
      <vt:variant>
        <vt:i4>1</vt:i4>
      </vt:variant>
    </vt:vector>
  </HeadingPairs>
  <TitlesOfParts>
    <vt:vector size="9" baseType="lpstr">
      <vt:lpstr>Aptos Display</vt:lpstr>
      <vt:lpstr>Arial</vt:lpstr>
      <vt:lpstr>Trebuchet MS</vt:lpstr>
      <vt:lpstr>BCG Grid 16:9</vt:lpstr>
      <vt:lpstr>think-cell Slide</vt:lpstr>
      <vt:lpstr>Marketing Campaign Performance Analysis</vt:lpstr>
      <vt:lpstr>Marketing Campaign Performance Analysis</vt:lpstr>
      <vt:lpstr>Recommendations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jahanvi gupta</cp:lastModifiedBy>
  <cp:revision>9</cp:revision>
  <cp:lastPrinted>2016-04-06T18:59:25Z</cp:lastPrinted>
  <dcterms:created xsi:type="dcterms:W3CDTF">2025-04-28T17:07:03Z</dcterms:created>
  <dcterms:modified xsi:type="dcterms:W3CDTF">2026-06-05T20:09:17Z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